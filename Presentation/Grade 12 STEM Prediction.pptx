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ebo Bold" charset="1" panose="00000800000000000000"/>
      <p:regular r:id="rId16"/>
    </p:embeddedFont>
    <p:embeddedFont>
      <p:font typeface="Inter Semi-Bold" charset="1" panose="02000503000000020004"/>
      <p:regular r:id="rId17"/>
    </p:embeddedFont>
    <p:embeddedFont>
      <p:font typeface="Inter Bold" charset="1" panose="020B0802030000000004"/>
      <p:regular r:id="rId18"/>
    </p:embeddedFont>
    <p:embeddedFont>
      <p:font typeface="Inter" charset="1" panose="020B0502030000000004"/>
      <p:regular r:id="rId19"/>
    </p:embeddedFont>
    <p:embeddedFont>
      <p:font typeface="Heebo Medium" charset="1" panose="00000600000000000000"/>
      <p:regular r:id="rId20"/>
    </p:embeddedFont>
    <p:embeddedFont>
      <p:font typeface="Heebo" charset="1" panose="00000500000000000000"/>
      <p:regular r:id="rId21"/>
    </p:embeddedFont>
    <p:embeddedFont>
      <p:font typeface="Inter Medium" charset="1" panose="0200050300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https://www.deped.gov.ph/machine-ready-files/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png" Type="http://schemas.openxmlformats.org/officeDocument/2006/relationships/image"/><Relationship Id="rId12" Target="../media/image47.png" Type="http://schemas.openxmlformats.org/officeDocument/2006/relationships/image"/><Relationship Id="rId13" Target="../media/image48.png" Type="http://schemas.openxmlformats.org/officeDocument/2006/relationships/image"/><Relationship Id="rId14" Target="../media/image49.png" Type="http://schemas.openxmlformats.org/officeDocument/2006/relationships/image"/><Relationship Id="rId15" Target="../media/image50.png" Type="http://schemas.openxmlformats.org/officeDocument/2006/relationships/image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64.png" Type="http://schemas.openxmlformats.org/officeDocument/2006/relationships/image"/><Relationship Id="rId4" Target="https://www.deped.gov.ph/machine-ready-files/" TargetMode="External" Type="http://schemas.openxmlformats.org/officeDocument/2006/relationships/hyperlink"/><Relationship Id="rId5" Target="https://youtu.be/E0Hmnixke2g?si=xB_BSUKLzRwpYdpf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6863" y="1163163"/>
            <a:ext cx="6075379" cy="106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b="true" sz="8027" spc="160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PREDICTING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4798" y="2338369"/>
            <a:ext cx="8281954" cy="110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7"/>
              </a:lnSpc>
            </a:pPr>
            <a:r>
              <a:rPr lang="en-US" b="true" sz="8337" spc="166">
                <a:solidFill>
                  <a:srgbClr val="ED870B"/>
                </a:solidFill>
                <a:latin typeface="Heebo Bold"/>
                <a:ea typeface="Heebo Bold"/>
                <a:cs typeface="Heebo Bold"/>
                <a:sym typeface="Heebo Bold"/>
              </a:rPr>
              <a:t>GRADE 12 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0351" y="3612795"/>
            <a:ext cx="6726641" cy="104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0"/>
              </a:lnSpc>
            </a:pPr>
            <a:r>
              <a:rPr lang="en-US" b="true" sz="7960" spc="159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ENROLLMENT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4244" y="4808645"/>
            <a:ext cx="7016209" cy="116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2"/>
              </a:lnSpc>
            </a:pPr>
            <a:r>
              <a:rPr lang="en-US" b="true" sz="3671" spc="73">
                <a:solidFill>
                  <a:srgbClr val="FFFFFF">
                    <a:alpha val="89804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ACROSS PHILIPPINE SCHOOLS</a:t>
            </a:r>
          </a:p>
          <a:p>
            <a:pPr algn="l">
              <a:lnSpc>
                <a:spcPts val="4772"/>
              </a:lnSpc>
            </a:pPr>
            <a:r>
              <a:rPr lang="en-US" b="true" sz="3671" spc="73">
                <a:solidFill>
                  <a:srgbClr val="FFFFFF">
                    <a:alpha val="89804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USING MACHINE LEARNING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6209369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87732" y="0"/>
            <a:ext cx="9800268" cy="10287000"/>
          </a:xfrm>
          <a:custGeom>
            <a:avLst/>
            <a:gdLst/>
            <a:ahLst/>
            <a:cxnLst/>
            <a:rect r="r" b="b" t="t" l="l"/>
            <a:pathLst>
              <a:path h="10287000" w="9800268">
                <a:moveTo>
                  <a:pt x="0" y="0"/>
                </a:moveTo>
                <a:lnTo>
                  <a:pt x="9800268" y="0"/>
                </a:lnTo>
                <a:lnTo>
                  <a:pt x="98002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0894048" cy="10287000"/>
          </a:xfrm>
          <a:custGeom>
            <a:avLst/>
            <a:gdLst/>
            <a:ahLst/>
            <a:cxnLst/>
            <a:rect r="r" b="b" t="t" l="l"/>
            <a:pathLst>
              <a:path h="10287000" w="10894048">
                <a:moveTo>
                  <a:pt x="0" y="0"/>
                </a:moveTo>
                <a:lnTo>
                  <a:pt x="10894048" y="0"/>
                </a:lnTo>
                <a:lnTo>
                  <a:pt x="10894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6835" y="1208612"/>
            <a:ext cx="5078203" cy="114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8"/>
              </a:lnSpc>
            </a:pPr>
            <a:r>
              <a:rPr lang="en-US" sz="8798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DATASET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2755" y="2364280"/>
            <a:ext cx="5486269" cy="11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19"/>
              </a:lnSpc>
            </a:pPr>
            <a:r>
              <a:rPr lang="en-US" sz="8519" b="true">
                <a:solidFill>
                  <a:srgbClr val="E1740B"/>
                </a:solidFill>
                <a:latin typeface="Heebo Bold"/>
                <a:ea typeface="Heebo Bold"/>
                <a:cs typeface="Heebo Bold"/>
                <a:sym typeface="Heebo Bold"/>
              </a:rPr>
              <a:t>OVERVIEW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3640352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41642" y="4424040"/>
            <a:ext cx="4955333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Department of Education (DepEd)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2889" y="5456211"/>
            <a:ext cx="1830630" cy="50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sz="3893" b="true">
                <a:solidFill>
                  <a:srgbClr val="E1740B"/>
                </a:solidFill>
                <a:latin typeface="Inter Bold"/>
                <a:ea typeface="Inter Bold"/>
                <a:cs typeface="Inter Bold"/>
                <a:sym typeface="Inter Bold"/>
              </a:rPr>
              <a:t>60,204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259464" y="5356674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72551" y="5456211"/>
            <a:ext cx="654294" cy="50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sz="3893" b="true">
                <a:solidFill>
                  <a:srgbClr val="E1740B"/>
                </a:solidFill>
                <a:latin typeface="Inter Bold"/>
                <a:ea typeface="Inter Bold"/>
                <a:cs typeface="Inter Bold"/>
                <a:sym typeface="Inter Bold"/>
              </a:rPr>
              <a:t>83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9499" y="6999472"/>
            <a:ext cx="3169629" cy="41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3164" b="true">
                <a:solidFill>
                  <a:srgbClr val="E1740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g12_stem_male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1195" y="7539612"/>
            <a:ext cx="6911578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Grade 12 STEM male enrollment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1195" y="4843722"/>
            <a:ext cx="6911578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school-level data, Philippines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1195" y="9557765"/>
            <a:ext cx="6911578" cy="28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7" tooltip="https://www.deped.gov.ph/machine-ready-files/"/>
              </a:rPr>
              <a:t>deped.gov.ph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1195" y="6651023"/>
            <a:ext cx="6911578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Target variable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1195" y="9181244"/>
            <a:ext cx="6911578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Dataset link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79094" y="6033528"/>
            <a:ext cx="2143125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variables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1195" y="6033528"/>
            <a:ext cx="2143125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rows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331560" cy="10287000"/>
          </a:xfrm>
          <a:custGeom>
            <a:avLst/>
            <a:gdLst/>
            <a:ahLst/>
            <a:cxnLst/>
            <a:rect r="r" b="b" t="t" l="l"/>
            <a:pathLst>
              <a:path h="10287000" w="11331560">
                <a:moveTo>
                  <a:pt x="0" y="0"/>
                </a:moveTo>
                <a:lnTo>
                  <a:pt x="11331560" y="0"/>
                </a:lnTo>
                <a:lnTo>
                  <a:pt x="113315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2195" y="1089616"/>
            <a:ext cx="6074294" cy="109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b="true" sz="8240" spc="-80">
                <a:solidFill>
                  <a:srgbClr val="FFFFFF">
                    <a:alpha val="89804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PREDICTION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1012" y="2217688"/>
            <a:ext cx="5192534" cy="114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8"/>
              </a:lnSpc>
            </a:pPr>
            <a:r>
              <a:rPr lang="en-US" b="true" sz="8798" spc="-85">
                <a:solidFill>
                  <a:srgbClr val="E0760B"/>
                </a:solidFill>
                <a:latin typeface="Heebo Bold"/>
                <a:ea typeface="Heebo Bold"/>
                <a:cs typeface="Heebo Bold"/>
                <a:sym typeface="Heebo Bold"/>
              </a:rPr>
              <a:t>PROBLEM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3421712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1359" y="4139385"/>
            <a:ext cx="6515624" cy="105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4"/>
              </a:lnSpc>
            </a:pPr>
            <a:r>
              <a:rPr lang="en-US" sz="2896" spc="-28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Estimate the number of </a:t>
            </a:r>
            <a:r>
              <a:rPr lang="en-US" sz="2896" spc="-28" b="true">
                <a:solidFill>
                  <a:srgbClr val="E0760B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Grade 12 STEM male enrollees</a:t>
            </a:r>
            <a:r>
              <a:rPr lang="en-US" sz="2896" spc="-28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 at </a:t>
            </a:r>
            <a:r>
              <a:rPr lang="en-US" sz="2896" spc="-28" b="true">
                <a:solidFill>
                  <a:srgbClr val="E0760B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each </a:t>
            </a:r>
            <a:r>
              <a:rPr lang="en-US" sz="2896" spc="-28">
                <a:solidFill>
                  <a:srgbClr val="E0C48C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school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468" y="5593662"/>
            <a:ext cx="5404788" cy="49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9"/>
              </a:lnSpc>
            </a:pPr>
            <a:r>
              <a:rPr lang="en-US" sz="2786" spc="-27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Target variable: </a:t>
            </a:r>
            <a:r>
              <a:rPr lang="en-US" sz="2786" spc="-27" b="true">
                <a:solidFill>
                  <a:srgbClr val="E0760B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g12_stem_male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4539" y="6505666"/>
            <a:ext cx="7197652" cy="490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2724" spc="-26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Task type: </a:t>
            </a:r>
            <a:r>
              <a:rPr lang="en-US" sz="2724" spc="-26" b="true">
                <a:solidFill>
                  <a:srgbClr val="E0760B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supervised learning, regression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6515" y="7426120"/>
            <a:ext cx="7000069" cy="158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sz="2847" spc="-27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Intended use: </a:t>
            </a:r>
            <a:r>
              <a:rPr lang="en-US" sz="2847" spc="-27" b="true">
                <a:solidFill>
                  <a:srgbClr val="E0760B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early warning</a:t>
            </a:r>
            <a:r>
              <a:rPr lang="en-US" sz="2847" spc="-27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2847" spc="-27" b="true">
                <a:solidFill>
                  <a:srgbClr val="E0760B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resource forecasting</a:t>
            </a:r>
            <a:r>
              <a:rPr lang="en-US" sz="2847" spc="-27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 for DepEd planners based on previous-year track uptake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0926" y="559821"/>
            <a:ext cx="4916731" cy="79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8"/>
              </a:lnSpc>
            </a:pPr>
            <a:r>
              <a:rPr lang="en-US" b="true" sz="6008" spc="-17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INITIAL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6569" y="1373107"/>
            <a:ext cx="5352450" cy="79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8"/>
              </a:lnSpc>
            </a:pPr>
            <a:r>
              <a:rPr lang="en-US" b="true" sz="6008" spc="-178">
                <a:solidFill>
                  <a:srgbClr val="E4740B"/>
                </a:solidFill>
                <a:latin typeface="Inter Bold"/>
                <a:ea typeface="Inter Bold"/>
                <a:cs typeface="Inter Bold"/>
                <a:sym typeface="Inter Bold"/>
              </a:rPr>
              <a:t>EXPLORATION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350377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6101" y="2849557"/>
            <a:ext cx="2399263" cy="79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69"/>
              </a:lnSpc>
            </a:pPr>
            <a:r>
              <a:rPr lang="en-US" b="true" sz="5969" spc="-177">
                <a:solidFill>
                  <a:srgbClr val="E4740B"/>
                </a:solidFill>
                <a:latin typeface="Inter Bold"/>
                <a:ea typeface="Inter Bold"/>
                <a:cs typeface="Inter Bold"/>
                <a:sym typeface="Inter Bold"/>
              </a:rPr>
              <a:t>12,852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0094" y="3597217"/>
            <a:ext cx="5572125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67" b="true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schools offering Senior High School (SHS) with available target values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3343" y="4761796"/>
            <a:ext cx="2675075" cy="79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8"/>
              </a:lnSpc>
            </a:pPr>
            <a:r>
              <a:rPr lang="en-US" b="true" sz="6008" spc="-178">
                <a:solidFill>
                  <a:srgbClr val="E4740B"/>
                </a:solidFill>
                <a:latin typeface="Inter Bold"/>
                <a:ea typeface="Inter Bold"/>
                <a:cs typeface="Inter Bold"/>
                <a:sym typeface="Inter Bold"/>
              </a:rPr>
              <a:t>61.97%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0094" y="5617424"/>
            <a:ext cx="5572125" cy="28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spc="-71" b="true">
                <a:solidFill>
                  <a:srgbClr val="E4740B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7,965</a:t>
            </a:r>
            <a:r>
              <a:rPr lang="en-US" sz="2387" spc="-71" b="true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 schools have zero enrollment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1861" y="6316483"/>
            <a:ext cx="823316" cy="27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b="true" sz="2179" spc="-64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MEAN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7733" y="6706261"/>
            <a:ext cx="1236084" cy="50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b="true" sz="3893" spc="-115">
                <a:solidFill>
                  <a:srgbClr val="E4740B"/>
                </a:solidFill>
                <a:latin typeface="Heebo Bold"/>
                <a:ea typeface="Heebo Bold"/>
                <a:cs typeface="Heebo Bold"/>
                <a:sym typeface="Heebo Bold"/>
              </a:rPr>
              <a:t>13.72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384440" y="6209369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89464" y="6316483"/>
            <a:ext cx="1091128" cy="27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b="true" sz="2179" spc="-64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MEDIAN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572000" y="6209369"/>
            <a:ext cx="218756" cy="1082267"/>
          </a:xfrm>
          <a:custGeom>
            <a:avLst/>
            <a:gdLst/>
            <a:ahLst/>
            <a:cxnLst/>
            <a:rect r="r" b="b" t="t" l="l"/>
            <a:pathLst>
              <a:path h="1082267" w="218756">
                <a:moveTo>
                  <a:pt x="0" y="0"/>
                </a:moveTo>
                <a:lnTo>
                  <a:pt x="218756" y="0"/>
                </a:lnTo>
                <a:lnTo>
                  <a:pt x="21875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054813" y="6316483"/>
            <a:ext cx="831973" cy="27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b="true" sz="2179" spc="-64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MODE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59873" y="6706261"/>
            <a:ext cx="326021" cy="50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b="true" sz="3893" spc="-115">
                <a:solidFill>
                  <a:srgbClr val="E4740B"/>
                </a:solidFill>
                <a:latin typeface="Heebo Bold"/>
                <a:ea typeface="Heebo Bold"/>
                <a:cs typeface="Heebo Bold"/>
                <a:sym typeface="Heebo Bold"/>
              </a:rPr>
              <a:t>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8264" y="7536411"/>
            <a:ext cx="1182953" cy="27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b="true" sz="2179" spc="-64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STD DEV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6500" y="7941250"/>
            <a:ext cx="1359371" cy="50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b="true" sz="3893" spc="-115">
                <a:solidFill>
                  <a:srgbClr val="E4740B"/>
                </a:solidFill>
                <a:latin typeface="Heebo Bold"/>
                <a:ea typeface="Heebo Bold"/>
                <a:cs typeface="Heebo Bold"/>
                <a:sym typeface="Heebo Bold"/>
              </a:rPr>
              <a:t>37.50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384440" y="7280704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993958" y="7536411"/>
            <a:ext cx="641650" cy="27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b="true" sz="2179" spc="-64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MAX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8514" y="8922086"/>
            <a:ext cx="5157948" cy="27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b="true" sz="2179" spc="-64">
                <a:solidFill>
                  <a:srgbClr val="E4740B"/>
                </a:solidFill>
                <a:latin typeface="Heebo Bold"/>
                <a:ea typeface="Heebo Bold"/>
                <a:cs typeface="Heebo Bold"/>
                <a:sym typeface="Heebo Bold"/>
              </a:rPr>
              <a:t>ZERO-INFLATED AND RIGHT-SKEWED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0676" y="9328651"/>
            <a:ext cx="4941817" cy="27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2179" spc="-64" b="true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long right tail retained as possibly valid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393952" y="207708"/>
            <a:ext cx="10467474" cy="5586245"/>
          </a:xfrm>
          <a:custGeom>
            <a:avLst/>
            <a:gdLst/>
            <a:ahLst/>
            <a:cxnLst/>
            <a:rect r="r" b="b" t="t" l="l"/>
            <a:pathLst>
              <a:path h="5586245" w="10467474">
                <a:moveTo>
                  <a:pt x="0" y="0"/>
                </a:moveTo>
                <a:lnTo>
                  <a:pt x="10467474" y="0"/>
                </a:lnTo>
                <a:lnTo>
                  <a:pt x="10467474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063508" y="707590"/>
            <a:ext cx="9483328" cy="28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b="true" sz="2387" spc="-71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DISTRIBUTION OF GRADE 12 STEM ENROLLMENT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144000" y="1279043"/>
            <a:ext cx="8279914" cy="3443576"/>
          </a:xfrm>
          <a:custGeom>
            <a:avLst/>
            <a:gdLst/>
            <a:ahLst/>
            <a:cxnLst/>
            <a:rect r="r" b="b" t="t" l="l"/>
            <a:pathLst>
              <a:path h="3443576" w="8279914">
                <a:moveTo>
                  <a:pt x="0" y="0"/>
                </a:moveTo>
                <a:lnTo>
                  <a:pt x="8279914" y="0"/>
                </a:lnTo>
                <a:lnTo>
                  <a:pt x="8279914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226842" y="1924030"/>
            <a:ext cx="3707914" cy="1300906"/>
          </a:xfrm>
          <a:custGeom>
            <a:avLst/>
            <a:gdLst/>
            <a:ahLst/>
            <a:cxnLst/>
            <a:rect r="r" b="b" t="t" l="l"/>
            <a:pathLst>
              <a:path h="1300906" w="3707914">
                <a:moveTo>
                  <a:pt x="0" y="0"/>
                </a:moveTo>
                <a:lnTo>
                  <a:pt x="3707914" y="0"/>
                </a:lnTo>
                <a:lnTo>
                  <a:pt x="370791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661016" y="2261858"/>
            <a:ext cx="2781946" cy="6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60" b="true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large spike at zero with a long right tail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7393952" y="5564382"/>
            <a:ext cx="10467474" cy="4296271"/>
          </a:xfrm>
          <a:custGeom>
            <a:avLst/>
            <a:gdLst/>
            <a:ahLst/>
            <a:cxnLst/>
            <a:rect r="r" b="b" t="t" l="l"/>
            <a:pathLst>
              <a:path h="4296271" w="10467474">
                <a:moveTo>
                  <a:pt x="0" y="0"/>
                </a:moveTo>
                <a:lnTo>
                  <a:pt x="10467474" y="0"/>
                </a:lnTo>
                <a:lnTo>
                  <a:pt x="10467474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050220" y="6635716"/>
            <a:ext cx="9373694" cy="2153601"/>
          </a:xfrm>
          <a:custGeom>
            <a:avLst/>
            <a:gdLst/>
            <a:ahLst/>
            <a:cxnLst/>
            <a:rect r="r" b="b" t="t" l="l"/>
            <a:pathLst>
              <a:path h="2153601" w="9373694">
                <a:moveTo>
                  <a:pt x="0" y="0"/>
                </a:moveTo>
                <a:lnTo>
                  <a:pt x="9373694" y="0"/>
                </a:lnTo>
                <a:lnTo>
                  <a:pt x="937369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789330" y="6635716"/>
            <a:ext cx="3718852" cy="1082267"/>
          </a:xfrm>
          <a:custGeom>
            <a:avLst/>
            <a:gdLst/>
            <a:ahLst/>
            <a:cxnLst/>
            <a:rect r="r" b="b" t="t" l="l"/>
            <a:pathLst>
              <a:path h="1082267" w="3718852">
                <a:moveTo>
                  <a:pt x="0" y="0"/>
                </a:moveTo>
                <a:lnTo>
                  <a:pt x="3718852" y="0"/>
                </a:lnTo>
                <a:lnTo>
                  <a:pt x="371885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094958" y="6825293"/>
            <a:ext cx="3130742" cy="6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60" b="true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compressed IQR near zero with extreme outliers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00873" y="8789999"/>
            <a:ext cx="7760693" cy="326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80"/>
              </a:lnSpc>
            </a:pPr>
            <a:r>
              <a:rPr lang="en-US" b="true" sz="1986" spc="-59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0         100        200        300        400        500        600        700        800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00873" y="4648268"/>
            <a:ext cx="7760693" cy="326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80"/>
              </a:lnSpc>
            </a:pPr>
            <a:r>
              <a:rPr lang="en-US" b="true" sz="1986" spc="-59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0         100        200        300        400        500        600        700        800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36719" y="6129492"/>
            <a:ext cx="9483328" cy="28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b="true" sz="2387" spc="-71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ENROLLMENT DISTRIBUTION (BOX PLOT)</a:t>
            </a:r>
          </a:p>
        </p:txBody>
      </p:sp>
      <p:sp>
        <p:nvSpPr>
          <p:cNvPr name="TextBox 35" id="35"/>
          <p:cNvSpPr txBox="true"/>
          <p:nvPr/>
        </p:nvSpPr>
        <p:spPr>
          <a:xfrm rot="-5400000">
            <a:off x="6906212" y="2808596"/>
            <a:ext cx="1953490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 spc="-53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number of schools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992821" y="7962446"/>
            <a:ext cx="755398" cy="462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b="true" sz="3629" spc="-108">
                <a:solidFill>
                  <a:srgbClr val="E4740B"/>
                </a:solidFill>
                <a:latin typeface="Heebo Bold"/>
                <a:ea typeface="Heebo Bold"/>
                <a:cs typeface="Heebo Bold"/>
                <a:sym typeface="Heebo Bold"/>
              </a:rPr>
              <a:t>717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253454" y="1427100"/>
            <a:ext cx="683786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b="true" sz="1916" spc="-57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8,000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253207" y="2180142"/>
            <a:ext cx="684035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b="true" sz="1916" spc="-57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6,000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257028" y="3656104"/>
            <a:ext cx="680176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b="true" sz="1916" spc="-57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2,000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46059" y="2918123"/>
            <a:ext cx="691255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b="true" sz="1916" spc="-57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4,000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97115" y="6706261"/>
            <a:ext cx="326021" cy="50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b="true" sz="3893" spc="-115">
                <a:solidFill>
                  <a:srgbClr val="E4740B"/>
                </a:solidFill>
                <a:latin typeface="Heebo Bold"/>
                <a:ea typeface="Heebo Bold"/>
                <a:cs typeface="Heebo Bold"/>
                <a:sym typeface="Heebo Bold"/>
              </a:rPr>
              <a:t>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1199" y="843135"/>
            <a:ext cx="8852708" cy="11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19"/>
              </a:lnSpc>
            </a:pPr>
            <a:r>
              <a:rPr lang="en-US" sz="8519" b="true">
                <a:solidFill>
                  <a:srgbClr val="FAFAFA"/>
                </a:solidFill>
                <a:latin typeface="Heebo Bold"/>
                <a:ea typeface="Heebo Bold"/>
                <a:cs typeface="Heebo Bold"/>
                <a:sym typeface="Heebo Bold"/>
              </a:rPr>
              <a:t>PREPROCESSING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1164" y="1912455"/>
            <a:ext cx="2856290" cy="11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19"/>
              </a:lnSpc>
            </a:pPr>
            <a:r>
              <a:rPr lang="en-US" sz="8519" b="true">
                <a:solidFill>
                  <a:srgbClr val="D9730A"/>
                </a:solidFill>
                <a:latin typeface="Heebo Bold"/>
                <a:ea typeface="Heebo Bold"/>
                <a:cs typeface="Heebo Bold"/>
                <a:sym typeface="Heebo Bold"/>
              </a:rPr>
              <a:t>PLAN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995365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7896" y="3579092"/>
            <a:ext cx="6861938" cy="798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From raw records to a clean, leakage-free dataset ready for machine learning.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4493047"/>
            <a:ext cx="2406316" cy="3869923"/>
          </a:xfrm>
          <a:custGeom>
            <a:avLst/>
            <a:gdLst/>
            <a:ahLst/>
            <a:cxnLst/>
            <a:rect r="r" b="b" t="t" l="l"/>
            <a:pathLst>
              <a:path h="3869923" w="2406316">
                <a:moveTo>
                  <a:pt x="0" y="0"/>
                </a:moveTo>
                <a:lnTo>
                  <a:pt x="2406316" y="0"/>
                </a:lnTo>
                <a:lnTo>
                  <a:pt x="2406316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18004" y="4951011"/>
            <a:ext cx="875885" cy="72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8"/>
              </a:lnSpc>
            </a:pPr>
            <a:r>
              <a:rPr lang="en-US" b="true" sz="2381">
                <a:solidFill>
                  <a:srgbClr val="D9730A"/>
                </a:solidFill>
                <a:latin typeface="Inter Bold"/>
                <a:ea typeface="Inter Bold"/>
                <a:cs typeface="Inter Bold"/>
                <a:sym typeface="Inter Bold"/>
              </a:rPr>
              <a:t>RAW</a:t>
            </a:r>
          </a:p>
          <a:p>
            <a:pPr algn="ctr">
              <a:lnSpc>
                <a:spcPts val="2858"/>
              </a:lnSpc>
            </a:pPr>
            <a:r>
              <a:rPr lang="en-US" b="true" sz="2381">
                <a:solidFill>
                  <a:srgbClr val="D9730A"/>
                </a:solidFill>
                <a:latin typeface="Inter Bold"/>
                <a:ea typeface="Inter Bold"/>
                <a:cs typeface="Inter Bold"/>
                <a:sym typeface="Inter Bold"/>
              </a:rPr>
              <a:t>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2544" y="6075652"/>
            <a:ext cx="1828409" cy="114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1863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Complete DepEd</a:t>
            </a:r>
          </a:p>
          <a:p>
            <a:pPr algn="l">
              <a:lnSpc>
                <a:spcPts val="3167"/>
              </a:lnSpc>
            </a:pPr>
            <a:r>
              <a:rPr lang="en-US" sz="1863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school-level records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821952" y="5356674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78220" y="4493047"/>
            <a:ext cx="2625072" cy="3869923"/>
          </a:xfrm>
          <a:custGeom>
            <a:avLst/>
            <a:gdLst/>
            <a:ahLst/>
            <a:cxnLst/>
            <a:rect r="r" b="b" t="t" l="l"/>
            <a:pathLst>
              <a:path h="3869923" w="2625072">
                <a:moveTo>
                  <a:pt x="0" y="0"/>
                </a:moveTo>
                <a:lnTo>
                  <a:pt x="2625072" y="0"/>
                </a:lnTo>
                <a:lnTo>
                  <a:pt x="262507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4146" y="4933163"/>
            <a:ext cx="1376460" cy="75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b="true" sz="2526">
                <a:solidFill>
                  <a:srgbClr val="D9730A"/>
                </a:solidFill>
                <a:latin typeface="Inter Bold"/>
                <a:ea typeface="Inter Bold"/>
                <a:cs typeface="Inter Bold"/>
                <a:sym typeface="Inter Bold"/>
              </a:rPr>
              <a:t>FILTER &amp;</a:t>
            </a:r>
          </a:p>
          <a:p>
            <a:pPr algn="ctr">
              <a:lnSpc>
                <a:spcPts val="3032"/>
              </a:lnSpc>
            </a:pPr>
            <a:r>
              <a:rPr lang="en-US" b="true" sz="2526">
                <a:solidFill>
                  <a:srgbClr val="D9730A"/>
                </a:solidFill>
                <a:latin typeface="Inter Bold"/>
                <a:ea typeface="Inter Bold"/>
                <a:cs typeface="Inter Bold"/>
                <a:sym typeface="Inter Bold"/>
              </a:rPr>
              <a:t>CLEAN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57204" y="6075652"/>
            <a:ext cx="2005379" cy="114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1863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Keep SHS schools</a:t>
            </a:r>
          </a:p>
          <a:p>
            <a:pPr algn="l">
              <a:lnSpc>
                <a:spcPts val="3167"/>
              </a:lnSpc>
            </a:pPr>
            <a:r>
              <a:rPr lang="en-US" sz="1863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Remove missing target values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873598" y="535667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11110" y="4493047"/>
            <a:ext cx="2625072" cy="3869923"/>
          </a:xfrm>
          <a:custGeom>
            <a:avLst/>
            <a:gdLst/>
            <a:ahLst/>
            <a:cxnLst/>
            <a:rect r="r" b="b" t="t" l="l"/>
            <a:pathLst>
              <a:path h="3869923" w="2625072">
                <a:moveTo>
                  <a:pt x="0" y="0"/>
                </a:moveTo>
                <a:lnTo>
                  <a:pt x="2625072" y="0"/>
                </a:lnTo>
                <a:lnTo>
                  <a:pt x="262507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81287" y="4951012"/>
            <a:ext cx="1468616" cy="72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b="true" sz="2430">
                <a:solidFill>
                  <a:srgbClr val="D9730A"/>
                </a:solidFill>
                <a:latin typeface="Inter Bold"/>
                <a:ea typeface="Inter Bold"/>
                <a:cs typeface="Inter Bold"/>
                <a:sym typeface="Inter Bold"/>
              </a:rPr>
              <a:t>PREVENT</a:t>
            </a:r>
          </a:p>
          <a:p>
            <a:pPr algn="ctr">
              <a:lnSpc>
                <a:spcPts val="2916"/>
              </a:lnSpc>
            </a:pPr>
            <a:r>
              <a:rPr lang="en-US" b="true" sz="2430">
                <a:solidFill>
                  <a:srgbClr val="D9730A"/>
                </a:solidFill>
                <a:latin typeface="Inter Bold"/>
                <a:ea typeface="Inter Bold"/>
                <a:cs typeface="Inter Bold"/>
                <a:sym typeface="Inter Bold"/>
              </a:rPr>
              <a:t>LEAKAGE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50119" y="6075821"/>
            <a:ext cx="2035791" cy="114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1863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Drop school</a:t>
            </a:r>
          </a:p>
          <a:p>
            <a:pPr algn="l">
              <a:lnSpc>
                <a:spcPts val="3167"/>
              </a:lnSpc>
            </a:pPr>
            <a:r>
              <a:rPr lang="en-US" sz="1863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identifiers and</a:t>
            </a:r>
          </a:p>
          <a:p>
            <a:pPr algn="l">
              <a:lnSpc>
                <a:spcPts val="3167"/>
              </a:lnSpc>
            </a:pPr>
            <a:r>
              <a:rPr lang="en-US" sz="1863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Grade 12 variables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706488" y="5356674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51818" y="4493047"/>
            <a:ext cx="2625072" cy="3869923"/>
          </a:xfrm>
          <a:custGeom>
            <a:avLst/>
            <a:gdLst/>
            <a:ahLst/>
            <a:cxnLst/>
            <a:rect r="r" b="b" t="t" l="l"/>
            <a:pathLst>
              <a:path h="3869923" w="2625072">
                <a:moveTo>
                  <a:pt x="0" y="0"/>
                </a:moveTo>
                <a:lnTo>
                  <a:pt x="2625072" y="0"/>
                </a:lnTo>
                <a:lnTo>
                  <a:pt x="262507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771935" y="4933163"/>
            <a:ext cx="1527334" cy="75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b="true" sz="2478">
                <a:solidFill>
                  <a:srgbClr val="D9730A"/>
                </a:solidFill>
                <a:latin typeface="Inter Bold"/>
                <a:ea typeface="Inter Bold"/>
                <a:cs typeface="Inter Bold"/>
                <a:sym typeface="Inter Bold"/>
              </a:rPr>
              <a:t>IMPUTE &amp; ENCODE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70130" y="6076312"/>
            <a:ext cx="2035477" cy="193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1863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Median imputation for numeric</a:t>
            </a:r>
          </a:p>
          <a:p>
            <a:pPr algn="l">
              <a:lnSpc>
                <a:spcPts val="3167"/>
              </a:lnSpc>
            </a:pPr>
            <a:r>
              <a:rPr lang="en-US" sz="1863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Mode imputation for categorical</a:t>
            </a:r>
          </a:p>
          <a:p>
            <a:pPr algn="l">
              <a:lnSpc>
                <a:spcPts val="3167"/>
              </a:lnSpc>
            </a:pPr>
            <a:r>
              <a:rPr lang="en-US" sz="1863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Dummy encoding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1747196" y="535667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184708" y="4493047"/>
            <a:ext cx="2625072" cy="3869923"/>
          </a:xfrm>
          <a:custGeom>
            <a:avLst/>
            <a:gdLst/>
            <a:ahLst/>
            <a:cxnLst/>
            <a:rect r="r" b="b" t="t" l="l"/>
            <a:pathLst>
              <a:path h="3869923" w="2625072">
                <a:moveTo>
                  <a:pt x="0" y="0"/>
                </a:moveTo>
                <a:lnTo>
                  <a:pt x="2625072" y="0"/>
                </a:lnTo>
                <a:lnTo>
                  <a:pt x="262507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665804" y="4951012"/>
            <a:ext cx="1633191" cy="72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b="true" sz="2430">
                <a:solidFill>
                  <a:srgbClr val="D9730A"/>
                </a:solidFill>
                <a:latin typeface="Inter Bold"/>
                <a:ea typeface="Inter Bold"/>
                <a:cs typeface="Inter Bold"/>
                <a:sym typeface="Inter Bold"/>
              </a:rPr>
              <a:t>REFINE</a:t>
            </a:r>
          </a:p>
          <a:p>
            <a:pPr algn="ctr">
              <a:lnSpc>
                <a:spcPts val="2916"/>
              </a:lnSpc>
            </a:pPr>
            <a:r>
              <a:rPr lang="en-US" b="true" sz="2430">
                <a:solidFill>
                  <a:srgbClr val="D9730A"/>
                </a:solidFill>
                <a:latin typeface="Inter Bold"/>
                <a:ea typeface="Inter Bold"/>
                <a:cs typeface="Inter Bold"/>
                <a:sym typeface="Inter Bold"/>
              </a:rPr>
              <a:t>FEATURES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22326" y="6075653"/>
            <a:ext cx="1495523" cy="114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1863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Remove zero-variance predictors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580086" y="535667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017598" y="4493047"/>
            <a:ext cx="2625072" cy="3869923"/>
          </a:xfrm>
          <a:custGeom>
            <a:avLst/>
            <a:gdLst/>
            <a:ahLst/>
            <a:cxnLst/>
            <a:rect r="r" b="b" t="t" l="l"/>
            <a:pathLst>
              <a:path h="3869923" w="2625072">
                <a:moveTo>
                  <a:pt x="0" y="0"/>
                </a:moveTo>
                <a:lnTo>
                  <a:pt x="2625072" y="0"/>
                </a:lnTo>
                <a:lnTo>
                  <a:pt x="262507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5593762" y="4951012"/>
            <a:ext cx="1670868" cy="72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b="true" sz="2430">
                <a:solidFill>
                  <a:srgbClr val="D9730A"/>
                </a:solidFill>
                <a:latin typeface="Inter Bold"/>
                <a:ea typeface="Inter Bold"/>
                <a:cs typeface="Inter Bold"/>
                <a:sym typeface="Inter Bold"/>
              </a:rPr>
              <a:t>MODELING</a:t>
            </a:r>
          </a:p>
          <a:p>
            <a:pPr algn="ctr">
              <a:lnSpc>
                <a:spcPts val="2916"/>
              </a:lnSpc>
            </a:pPr>
            <a:r>
              <a:rPr lang="en-US" b="true" sz="2430">
                <a:solidFill>
                  <a:srgbClr val="D9730A"/>
                </a:solidFill>
                <a:latin typeface="Inter Bold"/>
                <a:ea typeface="Inter Bold"/>
                <a:cs typeface="Inter Bold"/>
                <a:sym typeface="Inter Bold"/>
              </a:rPr>
              <a:t>DATASET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464804" y="6075652"/>
            <a:ext cx="1927421" cy="153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1863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Clean, consistent, and ready for</a:t>
            </a:r>
          </a:p>
          <a:p>
            <a:pPr algn="l">
              <a:lnSpc>
                <a:spcPts val="3167"/>
              </a:lnSpc>
            </a:pPr>
            <a:r>
              <a:rPr lang="en-US" sz="1863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Random Forest modeling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45330" y="8570678"/>
            <a:ext cx="16997340" cy="1289974"/>
          </a:xfrm>
          <a:custGeom>
            <a:avLst/>
            <a:gdLst/>
            <a:ahLst/>
            <a:cxnLst/>
            <a:rect r="r" b="b" t="t" l="l"/>
            <a:pathLst>
              <a:path h="1289974" w="16997340">
                <a:moveTo>
                  <a:pt x="0" y="0"/>
                </a:moveTo>
                <a:lnTo>
                  <a:pt x="16997340" y="0"/>
                </a:lnTo>
                <a:lnTo>
                  <a:pt x="1699734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3300753" y="9033100"/>
            <a:ext cx="3765862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b="true" sz="2654">
                <a:solidFill>
                  <a:srgbClr val="D9730A"/>
                </a:solidFill>
                <a:latin typeface="Inter Bold"/>
                <a:ea typeface="Inter Bold"/>
                <a:cs typeface="Inter Bold"/>
                <a:sym typeface="Inter Bold"/>
              </a:rPr>
              <a:t>NO FEATURE SCALING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7175196" y="8778386"/>
            <a:ext cx="229694" cy="655919"/>
          </a:xfrm>
          <a:custGeom>
            <a:avLst/>
            <a:gdLst/>
            <a:ahLst/>
            <a:cxnLst/>
            <a:rect r="r" b="b" t="t" l="l"/>
            <a:pathLst>
              <a:path h="655919" w="229694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7641466" y="8985774"/>
            <a:ext cx="7378402" cy="40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Random Forest is insensitive to monotonic scaling.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1199" y="843135"/>
            <a:ext cx="8852708" cy="11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19"/>
              </a:lnSpc>
            </a:pPr>
            <a:r>
              <a:rPr lang="en-US" sz="8519" b="true">
                <a:solidFill>
                  <a:srgbClr val="FAFAFA"/>
                </a:solidFill>
                <a:latin typeface="Heebo Bold"/>
                <a:ea typeface="Heebo Bold"/>
                <a:cs typeface="Heebo Bold"/>
                <a:sym typeface="Heebo Bold"/>
              </a:rPr>
              <a:t>MISSING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1199" y="2088646"/>
            <a:ext cx="10034542" cy="11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19"/>
              </a:lnSpc>
            </a:pPr>
            <a:r>
              <a:rPr lang="en-US" sz="8519" b="true">
                <a:solidFill>
                  <a:srgbClr val="D9730A"/>
                </a:solidFill>
                <a:latin typeface="Heebo Bold"/>
                <a:ea typeface="Heebo Bold"/>
                <a:cs typeface="Heebo Bold"/>
                <a:sym typeface="Heebo Bold"/>
              </a:rPr>
              <a:t>DATA CHALLENGE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81199" y="2995365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1199" y="4928149"/>
            <a:ext cx="11688805" cy="38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67" b="true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 Out of 60, 204 total rows, 47, 352 entries are missing for g12_stem_male.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1199" y="4328201"/>
            <a:ext cx="12340732" cy="64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9"/>
              </a:lnSpc>
            </a:pPr>
            <a:r>
              <a:rPr lang="en-US" b="true" sz="4869" spc="-145">
                <a:solidFill>
                  <a:srgbClr val="E4740B"/>
                </a:solidFill>
                <a:latin typeface="Inter Bold"/>
                <a:ea typeface="Inter Bold"/>
                <a:cs typeface="Inter Bold"/>
                <a:sym typeface="Inter Bold"/>
              </a:rPr>
              <a:t>HIGH VOLUME OF MISSING VALUES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90795" y="4366301"/>
            <a:ext cx="5190849" cy="1832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7"/>
              </a:lnSpc>
            </a:pPr>
            <a:r>
              <a:rPr lang="en-US" b="true" sz="7117" spc="-206">
                <a:solidFill>
                  <a:srgbClr val="E4740B"/>
                </a:solidFill>
                <a:latin typeface="Inter Bold"/>
                <a:ea typeface="Inter Bold"/>
                <a:cs typeface="Inter Bold"/>
                <a:sym typeface="Inter Bold"/>
              </a:rPr>
              <a:t>78.65%.</a:t>
            </a:r>
          </a:p>
          <a:p>
            <a:pPr algn="l">
              <a:lnSpc>
                <a:spcPts val="711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81199" y="5918367"/>
            <a:ext cx="12340732" cy="64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9"/>
              </a:lnSpc>
            </a:pPr>
            <a:r>
              <a:rPr lang="en-US" b="true" sz="4869" spc="-145">
                <a:solidFill>
                  <a:srgbClr val="E4740B"/>
                </a:solidFill>
                <a:latin typeface="Inter Bold"/>
                <a:ea typeface="Inter Bold"/>
                <a:cs typeface="Inter Bold"/>
                <a:sym typeface="Inter Bold"/>
              </a:rPr>
              <a:t>DATA CONTEXT INSIGHT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1199" y="6518314"/>
            <a:ext cx="11688805" cy="116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67" b="true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In the context of DepEd data, these missing values likely represent junior high schools, elementary schools, or senior high schools that do not offer the STEM strand (structural zeros/non-offerings).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1199" y="8034449"/>
            <a:ext cx="12340732" cy="64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9"/>
              </a:lnSpc>
            </a:pPr>
            <a:r>
              <a:rPr lang="en-US" b="true" sz="4869" spc="-145">
                <a:solidFill>
                  <a:srgbClr val="E4740B"/>
                </a:solidFill>
                <a:latin typeface="Inter Bold"/>
                <a:ea typeface="Inter Bold"/>
                <a:cs typeface="Inter Bold"/>
                <a:sym typeface="Inter Bold"/>
              </a:rPr>
              <a:t>FIX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1199" y="8650251"/>
            <a:ext cx="11688805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67" b="true">
                <a:solidFill>
                  <a:srgbClr val="FFFFFF">
                    <a:alpha val="80000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Do not simply impute these NAs with the mean or median.  If a school doesn't offer STEM, including them as zeroes or missing rows can heavily bias your training process.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89330" y="1705390"/>
            <a:ext cx="8290852" cy="7728915"/>
          </a:xfrm>
          <a:custGeom>
            <a:avLst/>
            <a:gdLst/>
            <a:ahLst/>
            <a:cxnLst/>
            <a:rect r="r" b="b" t="t" l="l"/>
            <a:pathLst>
              <a:path h="7728915" w="8290852">
                <a:moveTo>
                  <a:pt x="0" y="0"/>
                </a:moveTo>
                <a:lnTo>
                  <a:pt x="8290852" y="0"/>
                </a:lnTo>
                <a:lnTo>
                  <a:pt x="8290852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4509" y="808871"/>
            <a:ext cx="7237373" cy="90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5"/>
              </a:lnSpc>
            </a:pPr>
            <a:r>
              <a:rPr lang="en-US" sz="6985" b="true">
                <a:solidFill>
                  <a:srgbClr val="FFFFFF">
                    <a:alpha val="89804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PREPROCESSING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9193" y="1727582"/>
            <a:ext cx="7768943" cy="90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5"/>
              </a:lnSpc>
            </a:pPr>
            <a:r>
              <a:rPr lang="en-US" sz="6985" b="true">
                <a:solidFill>
                  <a:srgbClr val="EA7A0B"/>
                </a:solidFill>
                <a:latin typeface="Heebo Bold"/>
                <a:ea typeface="Heebo Bold"/>
                <a:cs typeface="Heebo Bold"/>
                <a:sym typeface="Heebo Bold"/>
              </a:rPr>
              <a:t>IMPLEMENTATION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2776725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330" y="2995365"/>
            <a:ext cx="2187560" cy="1508614"/>
          </a:xfrm>
          <a:custGeom>
            <a:avLst/>
            <a:gdLst/>
            <a:ahLst/>
            <a:cxnLst/>
            <a:rect r="r" b="b" t="t" l="l"/>
            <a:pathLst>
              <a:path h="1508614" w="2187560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4759" y="3396826"/>
            <a:ext cx="1232003" cy="65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b="true" sz="5000">
                <a:solidFill>
                  <a:srgbClr val="FFFFFF">
                    <a:alpha val="89804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80%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0916" y="4021442"/>
            <a:ext cx="959689" cy="30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>
                <a:solidFill>
                  <a:srgbClr val="FFFFFF">
                    <a:alpha val="89804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TRAIN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040708" y="2995365"/>
            <a:ext cx="6759560" cy="1508614"/>
          </a:xfrm>
          <a:custGeom>
            <a:avLst/>
            <a:gdLst/>
            <a:ahLst/>
            <a:cxnLst/>
            <a:rect r="r" b="b" t="t" l="l"/>
            <a:pathLst>
              <a:path h="1508614" w="6759560">
                <a:moveTo>
                  <a:pt x="0" y="0"/>
                </a:moveTo>
                <a:lnTo>
                  <a:pt x="6759560" y="0"/>
                </a:lnTo>
                <a:lnTo>
                  <a:pt x="6759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02211" y="3409346"/>
            <a:ext cx="6188273" cy="74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-46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Training set: 10,281 rows</a:t>
            </a:r>
          </a:p>
          <a:p>
            <a:pPr algn="l">
              <a:lnSpc>
                <a:spcPts val="3017"/>
              </a:lnSpc>
            </a:pPr>
            <a:r>
              <a:rPr lang="en-US" sz="2321" spc="-46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Test set: 2,571 rows (20%)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478220" y="4285339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5330" y="4493047"/>
            <a:ext cx="2187560" cy="1508614"/>
          </a:xfrm>
          <a:custGeom>
            <a:avLst/>
            <a:gdLst/>
            <a:ahLst/>
            <a:cxnLst/>
            <a:rect r="r" b="b" t="t" l="l"/>
            <a:pathLst>
              <a:path h="1508614" w="2187560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31847" y="4955549"/>
            <a:ext cx="1337828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</a:pPr>
            <a:r>
              <a:rPr lang="en-US" b="true" sz="3304">
                <a:solidFill>
                  <a:srgbClr val="FFFFFF">
                    <a:alpha val="89804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FIT 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0916" y="5437161"/>
            <a:ext cx="959689" cy="30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>
                <a:solidFill>
                  <a:srgbClr val="FFFFFF">
                    <a:alpha val="89804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TRAIN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040708" y="4493047"/>
            <a:ext cx="6759560" cy="1508614"/>
          </a:xfrm>
          <a:custGeom>
            <a:avLst/>
            <a:gdLst/>
            <a:ahLst/>
            <a:cxnLst/>
            <a:rect r="r" b="b" t="t" l="l"/>
            <a:pathLst>
              <a:path h="1508614" w="6759560">
                <a:moveTo>
                  <a:pt x="0" y="0"/>
                </a:moveTo>
                <a:lnTo>
                  <a:pt x="6759560" y="0"/>
                </a:lnTo>
                <a:lnTo>
                  <a:pt x="6759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02211" y="4870248"/>
            <a:ext cx="6188273" cy="74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-46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Preprocessing steps were learned</a:t>
            </a:r>
          </a:p>
          <a:p>
            <a:pPr algn="l">
              <a:lnSpc>
                <a:spcPts val="3017"/>
              </a:lnSpc>
            </a:pPr>
            <a:r>
              <a:rPr lang="en-US" sz="2321" spc="-46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using training data only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478220" y="5783021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45330" y="5990729"/>
            <a:ext cx="2187560" cy="1945894"/>
          </a:xfrm>
          <a:custGeom>
            <a:avLst/>
            <a:gdLst/>
            <a:ahLst/>
            <a:cxnLst/>
            <a:rect r="r" b="b" t="t" l="l"/>
            <a:pathLst>
              <a:path h="1945894" w="2187560">
                <a:moveTo>
                  <a:pt x="0" y="0"/>
                </a:moveTo>
                <a:lnTo>
                  <a:pt x="2187560" y="0"/>
                </a:lnTo>
                <a:lnTo>
                  <a:pt x="218756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11908" y="6630984"/>
            <a:ext cx="1577705" cy="5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b="true" sz="4031">
                <a:solidFill>
                  <a:srgbClr val="FFFFFF">
                    <a:alpha val="89804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APPLY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6883" y="7213873"/>
            <a:ext cx="2089547" cy="28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b="true" sz="2387">
                <a:solidFill>
                  <a:srgbClr val="FFFFFF">
                    <a:alpha val="89804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TRANSFORMS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3040708" y="5990729"/>
            <a:ext cx="6759560" cy="1945894"/>
          </a:xfrm>
          <a:custGeom>
            <a:avLst/>
            <a:gdLst/>
            <a:ahLst/>
            <a:cxnLst/>
            <a:rect r="r" b="b" t="t" l="l"/>
            <a:pathLst>
              <a:path h="1945894" w="6759560">
                <a:moveTo>
                  <a:pt x="0" y="0"/>
                </a:moveTo>
                <a:lnTo>
                  <a:pt x="6759560" y="0"/>
                </a:lnTo>
                <a:lnTo>
                  <a:pt x="675956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402211" y="6322919"/>
            <a:ext cx="6188273" cy="142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 b="true">
                <a:solidFill>
                  <a:srgbClr val="FFFFFF">
                    <a:alpha val="89804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Applied median and mode imputation, dummy encoding, and zero-variance</a:t>
            </a:r>
          </a:p>
          <a:p>
            <a:pPr algn="l">
              <a:lnSpc>
                <a:spcPts val="2930"/>
              </a:lnSpc>
            </a:pPr>
            <a:r>
              <a:rPr lang="en-US" sz="2254" spc="-45" b="true">
                <a:solidFill>
                  <a:srgbClr val="FFFFFF">
                    <a:alpha val="89804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feature removal to training data, then</a:t>
            </a:r>
          </a:p>
          <a:p>
            <a:pPr algn="l">
              <a:lnSpc>
                <a:spcPts val="2930"/>
              </a:lnSpc>
            </a:pPr>
            <a:r>
              <a:rPr lang="en-US" sz="2254" spc="-45" b="true">
                <a:solidFill>
                  <a:srgbClr val="FFFFFF">
                    <a:alpha val="89804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applied the same transformations to test set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478220" y="7707051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45330" y="7925691"/>
            <a:ext cx="2187560" cy="1934962"/>
          </a:xfrm>
          <a:custGeom>
            <a:avLst/>
            <a:gdLst/>
            <a:ahLst/>
            <a:cxnLst/>
            <a:rect r="r" b="b" t="t" l="l"/>
            <a:pathLst>
              <a:path h="1934962" w="2187560">
                <a:moveTo>
                  <a:pt x="0" y="0"/>
                </a:moveTo>
                <a:lnTo>
                  <a:pt x="2187560" y="0"/>
                </a:lnTo>
                <a:lnTo>
                  <a:pt x="218756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43857" y="8513590"/>
            <a:ext cx="1313809" cy="5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b="true" sz="4031">
                <a:solidFill>
                  <a:srgbClr val="FFFFFF">
                    <a:alpha val="89804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DATA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8737" y="9081884"/>
            <a:ext cx="1664048" cy="30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>
                <a:solidFill>
                  <a:srgbClr val="FFFFFF">
                    <a:alpha val="89804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DECISIONS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3040708" y="7925691"/>
            <a:ext cx="6759560" cy="1934962"/>
          </a:xfrm>
          <a:custGeom>
            <a:avLst/>
            <a:gdLst/>
            <a:ahLst/>
            <a:cxnLst/>
            <a:rect r="r" b="b" t="t" l="l"/>
            <a:pathLst>
              <a:path h="1934962" w="6759560">
                <a:moveTo>
                  <a:pt x="0" y="0"/>
                </a:moveTo>
                <a:lnTo>
                  <a:pt x="6759560" y="0"/>
                </a:lnTo>
                <a:lnTo>
                  <a:pt x="675956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402211" y="8227978"/>
            <a:ext cx="61882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-46" b="true">
                <a:solidFill>
                  <a:srgbClr val="FFFFFF">
                    <a:alpha val="89804"/>
                  </a:srgbClr>
                </a:solidFill>
                <a:latin typeface="Heebo Medium"/>
                <a:ea typeface="Heebo Medium"/>
                <a:cs typeface="Heebo Medium"/>
                <a:sym typeface="Heebo Medium"/>
              </a:rPr>
              <a:t>Extreme target values were retained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02211" y="8755944"/>
            <a:ext cx="6188273" cy="74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-46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Excluded 120 SHS schools with missing</a:t>
            </a:r>
          </a:p>
          <a:p>
            <a:pPr algn="l">
              <a:lnSpc>
                <a:spcPts val="3017"/>
              </a:lnSpc>
            </a:pPr>
            <a:r>
              <a:rPr lang="en-US" sz="2321" spc="-46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target values due to structural reasons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4093" y="341984"/>
            <a:ext cx="5847706" cy="90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5"/>
              </a:lnSpc>
            </a:pPr>
            <a:r>
              <a:rPr lang="en-US" b="true" sz="6985" spc="-68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RESULTS AND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6194" y="1305878"/>
            <a:ext cx="8637667" cy="90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5"/>
              </a:lnSpc>
            </a:pPr>
            <a:r>
              <a:rPr lang="en-US" b="true" sz="6985" spc="-68">
                <a:solidFill>
                  <a:srgbClr val="D77111"/>
                </a:solidFill>
                <a:latin typeface="Heebo Bold"/>
                <a:ea typeface="Heebo Bold"/>
                <a:cs typeface="Heebo Bold"/>
                <a:sym typeface="Heebo Bold"/>
              </a:rPr>
              <a:t>MODEL EVALUATION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142670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9553" y="2515424"/>
            <a:ext cx="8659582" cy="161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047" spc="-19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Compared Linear Regression with Random Forest Regression (500 trees)</a:t>
            </a:r>
          </a:p>
          <a:p>
            <a:pPr algn="l">
              <a:lnSpc>
                <a:spcPts val="3275"/>
              </a:lnSpc>
            </a:pPr>
            <a:r>
              <a:rPr lang="en-US" sz="2047" spc="-19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Model performs well for typical schools</a:t>
            </a:r>
          </a:p>
          <a:p>
            <a:pPr algn="l">
              <a:lnSpc>
                <a:spcPts val="3275"/>
              </a:lnSpc>
            </a:pPr>
            <a:r>
              <a:rPr lang="en-US" sz="2047" spc="-19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Large errors on rare high enrollment schools increase RMSE</a:t>
            </a:r>
          </a:p>
          <a:p>
            <a:pPr algn="l">
              <a:lnSpc>
                <a:spcPts val="3275"/>
              </a:lnSpc>
            </a:pPr>
            <a:r>
              <a:rPr lang="en-US" sz="2047" spc="-19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Top predictors are prior year STEM enrollments and related tracks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445598" y="1071335"/>
            <a:ext cx="448450" cy="3224936"/>
          </a:xfrm>
          <a:custGeom>
            <a:avLst/>
            <a:gdLst/>
            <a:ahLst/>
            <a:cxnLst/>
            <a:rect r="r" b="b" t="t" l="l"/>
            <a:pathLst>
              <a:path h="3224936" w="448450">
                <a:moveTo>
                  <a:pt x="0" y="0"/>
                </a:moveTo>
                <a:lnTo>
                  <a:pt x="448450" y="0"/>
                </a:lnTo>
                <a:lnTo>
                  <a:pt x="44845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076386" y="1200390"/>
            <a:ext cx="4107537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b="true" sz="1916" spc="-18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EVALUATION METRICS ON TEST 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04522" y="1838778"/>
            <a:ext cx="1293885" cy="47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b="true" sz="3585" spc="-35">
                <a:solidFill>
                  <a:srgbClr val="D77111"/>
                </a:solidFill>
                <a:latin typeface="Inter Bold"/>
                <a:ea typeface="Inter Bold"/>
                <a:cs typeface="Inter Bold"/>
                <a:sym typeface="Inter Bold"/>
              </a:rPr>
              <a:t>22.98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10911" y="2495622"/>
            <a:ext cx="654949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b="true" sz="1916" spc="-18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RMSE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98807" y="2820354"/>
            <a:ext cx="1865384" cy="119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spc="-17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inflated by large errors on rare high enrollment schools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71993" y="1818654"/>
            <a:ext cx="1006216" cy="50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b="true" sz="3717" spc="-36">
                <a:solidFill>
                  <a:srgbClr val="D77111"/>
                </a:solidFill>
                <a:latin typeface="Inter Bold"/>
                <a:ea typeface="Inter Bold"/>
                <a:cs typeface="Inter Bold"/>
                <a:sym typeface="Inter Bold"/>
              </a:rPr>
              <a:t>9.77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76913" y="2495622"/>
            <a:ext cx="514121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b="true" sz="1916" spc="-18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MAE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68438" y="2895658"/>
            <a:ext cx="1361708" cy="89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spc="-17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indicates</a:t>
            </a:r>
          </a:p>
          <a:p>
            <a:pPr algn="l">
              <a:lnSpc>
                <a:spcPts val="2497"/>
              </a:lnSpc>
            </a:pPr>
            <a:r>
              <a:rPr lang="en-US" sz="1784" spc="-17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average error</a:t>
            </a:r>
          </a:p>
          <a:p>
            <a:pPr algn="l">
              <a:lnSpc>
                <a:spcPts val="2497"/>
              </a:lnSpc>
            </a:pPr>
            <a:r>
              <a:rPr lang="en-US" sz="1784" spc="-17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~10 students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06428" y="1875008"/>
            <a:ext cx="1875154" cy="87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3454" spc="-33" b="true">
                <a:solidFill>
                  <a:srgbClr val="D77111"/>
                </a:solidFill>
                <a:latin typeface="Inter Bold"/>
                <a:ea typeface="Inter Bold"/>
                <a:cs typeface="Inter Bold"/>
                <a:sym typeface="Inter Bold"/>
              </a:rPr>
              <a:t>Not reported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13866" y="2962508"/>
            <a:ext cx="1131330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R-squared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07818" y="4493047"/>
            <a:ext cx="6114230" cy="5586245"/>
          </a:xfrm>
          <a:custGeom>
            <a:avLst/>
            <a:gdLst/>
            <a:ahLst/>
            <a:cxnLst/>
            <a:rect r="r" b="b" t="t" l="l"/>
            <a:pathLst>
              <a:path h="5586245" w="6114230">
                <a:moveTo>
                  <a:pt x="0" y="0"/>
                </a:moveTo>
                <a:lnTo>
                  <a:pt x="6114230" y="0"/>
                </a:lnTo>
                <a:lnTo>
                  <a:pt x="6114230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251807" y="4890982"/>
            <a:ext cx="2526296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784" spc="-17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ACTUAL VS PREDICTED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01598" y="5356674"/>
            <a:ext cx="4582938" cy="3432644"/>
          </a:xfrm>
          <a:custGeom>
            <a:avLst/>
            <a:gdLst/>
            <a:ahLst/>
            <a:cxnLst/>
            <a:rect r="r" b="b" t="t" l="l"/>
            <a:pathLst>
              <a:path h="3432644" w="4582938">
                <a:moveTo>
                  <a:pt x="0" y="0"/>
                </a:moveTo>
                <a:lnTo>
                  <a:pt x="4582938" y="0"/>
                </a:lnTo>
                <a:lnTo>
                  <a:pt x="4582938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092354" y="4493047"/>
            <a:ext cx="5884536" cy="5586245"/>
          </a:xfrm>
          <a:custGeom>
            <a:avLst/>
            <a:gdLst/>
            <a:ahLst/>
            <a:cxnLst/>
            <a:rect r="r" b="b" t="t" l="l"/>
            <a:pathLst>
              <a:path h="5586245" w="5884536">
                <a:moveTo>
                  <a:pt x="0" y="0"/>
                </a:moveTo>
                <a:lnTo>
                  <a:pt x="5884536" y="0"/>
                </a:lnTo>
                <a:lnTo>
                  <a:pt x="5884536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421399" y="4890982"/>
            <a:ext cx="1715560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784" spc="-17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RESIDUAL PLOT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175196" y="5356674"/>
            <a:ext cx="4364182" cy="3432644"/>
          </a:xfrm>
          <a:custGeom>
            <a:avLst/>
            <a:gdLst/>
            <a:ahLst/>
            <a:cxnLst/>
            <a:rect r="r" b="b" t="t" l="l"/>
            <a:pathLst>
              <a:path h="3432644" w="4364182">
                <a:moveTo>
                  <a:pt x="0" y="0"/>
                </a:moveTo>
                <a:lnTo>
                  <a:pt x="4364182" y="0"/>
                </a:lnTo>
                <a:lnTo>
                  <a:pt x="4364182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965952" y="4493047"/>
            <a:ext cx="6114230" cy="5586245"/>
          </a:xfrm>
          <a:custGeom>
            <a:avLst/>
            <a:gdLst/>
            <a:ahLst/>
            <a:cxnLst/>
            <a:rect r="r" b="b" t="t" l="l"/>
            <a:pathLst>
              <a:path h="5586245" w="6114230">
                <a:moveTo>
                  <a:pt x="0" y="0"/>
                </a:moveTo>
                <a:lnTo>
                  <a:pt x="6114230" y="0"/>
                </a:lnTo>
                <a:lnTo>
                  <a:pt x="6114230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252762" y="4890982"/>
            <a:ext cx="3461289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784" spc="-17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TOP 10 VARIABLE IMPORTANCE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55831" y="5383492"/>
            <a:ext cx="1722940" cy="3359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84"/>
              </a:lnSpc>
            </a:pPr>
            <a:r>
              <a:rPr lang="en-US" sz="1546" spc="-15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g11_stem_male</a:t>
            </a:r>
          </a:p>
          <a:p>
            <a:pPr algn="r">
              <a:lnSpc>
                <a:spcPts val="2784"/>
              </a:lnSpc>
            </a:pPr>
            <a:r>
              <a:rPr lang="en-US" sz="1546" spc="-15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g11_stem_female</a:t>
            </a:r>
          </a:p>
          <a:p>
            <a:pPr algn="r">
              <a:lnSpc>
                <a:spcPts val="2784"/>
              </a:lnSpc>
            </a:pPr>
            <a:r>
              <a:rPr lang="en-US" sz="1546" spc="-15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g11_abm_male</a:t>
            </a:r>
          </a:p>
          <a:p>
            <a:pPr algn="r">
              <a:lnSpc>
                <a:spcPts val="2784"/>
              </a:lnSpc>
            </a:pPr>
            <a:r>
              <a:rPr lang="en-US" sz="1546" spc="-15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g11_abm_female</a:t>
            </a:r>
          </a:p>
          <a:p>
            <a:pPr algn="r">
              <a:lnSpc>
                <a:spcPts val="2784"/>
              </a:lnSpc>
            </a:pPr>
            <a:r>
              <a:rPr lang="en-US" sz="1546" spc="-15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g11_humss_male</a:t>
            </a:r>
          </a:p>
          <a:p>
            <a:pPr algn="r">
              <a:lnSpc>
                <a:spcPts val="2784"/>
              </a:lnSpc>
            </a:pPr>
            <a:r>
              <a:rPr lang="en-US" sz="1546" spc="-15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g11_humss_female</a:t>
            </a:r>
          </a:p>
          <a:p>
            <a:pPr algn="r">
              <a:lnSpc>
                <a:spcPts val="2784"/>
              </a:lnSpc>
            </a:pPr>
            <a:r>
              <a:rPr lang="en-US" sz="1546" spc="-15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g11_gen_male</a:t>
            </a:r>
          </a:p>
          <a:p>
            <a:pPr algn="r">
              <a:lnSpc>
                <a:spcPts val="2784"/>
              </a:lnSpc>
            </a:pPr>
            <a:r>
              <a:rPr lang="en-US" sz="1546" spc="-15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g11_gen_female</a:t>
            </a:r>
          </a:p>
          <a:p>
            <a:pPr algn="r">
              <a:lnSpc>
                <a:spcPts val="2784"/>
              </a:lnSpc>
            </a:pPr>
            <a:r>
              <a:rPr lang="en-US" sz="1546" spc="-15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g10_stem_male</a:t>
            </a:r>
          </a:p>
          <a:p>
            <a:pPr algn="r">
              <a:lnSpc>
                <a:spcPts val="2784"/>
              </a:lnSpc>
            </a:pPr>
            <a:r>
              <a:rPr lang="en-US" sz="1546" spc="-15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sector_Public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716000" y="5356674"/>
            <a:ext cx="3926670" cy="3651284"/>
          </a:xfrm>
          <a:custGeom>
            <a:avLst/>
            <a:gdLst/>
            <a:ahLst/>
            <a:cxnLst/>
            <a:rect r="r" b="b" t="t" l="l"/>
            <a:pathLst>
              <a:path h="3651284" w="3926670">
                <a:moveTo>
                  <a:pt x="0" y="0"/>
                </a:moveTo>
                <a:lnTo>
                  <a:pt x="3926670" y="0"/>
                </a:lnTo>
                <a:lnTo>
                  <a:pt x="3926670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086819" y="9384760"/>
            <a:ext cx="2951730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14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Actual Grade 12 STEM Enrollment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26834" y="9384760"/>
            <a:ext cx="2951730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14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Actual Grade 12 STEM Enrollment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689829" y="9384760"/>
            <a:ext cx="1736673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14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Relative Importance</a:t>
            </a:r>
          </a:p>
        </p:txBody>
      </p:sp>
      <p:sp>
        <p:nvSpPr>
          <p:cNvPr name="TextBox 30" id="30"/>
          <p:cNvSpPr txBox="true"/>
          <p:nvPr/>
        </p:nvSpPr>
        <p:spPr>
          <a:xfrm rot="-5400000">
            <a:off x="5898734" y="6674582"/>
            <a:ext cx="847850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14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Residuals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6842" y="1705390"/>
            <a:ext cx="8061158" cy="8581610"/>
          </a:xfrm>
          <a:custGeom>
            <a:avLst/>
            <a:gdLst/>
            <a:ahLst/>
            <a:cxnLst/>
            <a:rect r="r" b="b" t="t" l="l"/>
            <a:pathLst>
              <a:path h="8581610" w="8061158">
                <a:moveTo>
                  <a:pt x="0" y="0"/>
                </a:moveTo>
                <a:lnTo>
                  <a:pt x="8061158" y="0"/>
                </a:lnTo>
                <a:lnTo>
                  <a:pt x="8061158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7425" y="1310035"/>
            <a:ext cx="7019234" cy="114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9"/>
              </a:lnSpc>
            </a:pPr>
            <a:r>
              <a:rPr lang="en-US" sz="8659" b="true">
                <a:solidFill>
                  <a:srgbClr val="FFFFFF">
                    <a:alpha val="94902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LIMITATIONS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8473" y="2484808"/>
            <a:ext cx="5914425" cy="118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8"/>
              </a:lnSpc>
            </a:pPr>
            <a:r>
              <a:rPr lang="en-US" sz="8938" b="true">
                <a:solidFill>
                  <a:srgbClr val="E1740B"/>
                </a:solidFill>
                <a:latin typeface="Heebo Bold"/>
                <a:ea typeface="Heebo Bold"/>
                <a:cs typeface="Heebo Bold"/>
                <a:sym typeface="Heebo Bold"/>
              </a:rPr>
              <a:t>AND RISKS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3848060"/>
            <a:ext cx="1531292" cy="229572"/>
          </a:xfrm>
          <a:custGeom>
            <a:avLst/>
            <a:gdLst/>
            <a:ahLst/>
            <a:cxnLst/>
            <a:rect r="r" b="b" t="t" l="l"/>
            <a:pathLst>
              <a:path h="229572" w="1531292">
                <a:moveTo>
                  <a:pt x="0" y="0"/>
                </a:moveTo>
                <a:lnTo>
                  <a:pt x="1531292" y="0"/>
                </a:lnTo>
                <a:lnTo>
                  <a:pt x="153129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2647" y="4941171"/>
            <a:ext cx="7175959" cy="36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781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Zero inflation and right-skewed enrollment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5114" y="5820110"/>
            <a:ext cx="6929228" cy="38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838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Selection bias from filtering SHS schools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0663" y="6703289"/>
            <a:ext cx="7374316" cy="36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781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Model tends to underpredict extreme cases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3276" y="7576818"/>
            <a:ext cx="7113017" cy="36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781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Outliers affect error metrics; no R-squared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8615" y="1317105"/>
            <a:ext cx="7147830" cy="122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0"/>
              </a:lnSpc>
            </a:pPr>
            <a:r>
              <a:rPr lang="en-US" sz="9230" b="true">
                <a:solidFill>
                  <a:srgbClr val="FFFFFF">
                    <a:alpha val="94902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REFERENCES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776725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8718" y="3430265"/>
            <a:ext cx="5853242" cy="93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2847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Department of Education (DepEd) Philippines school-level 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3232" y="4553836"/>
            <a:ext cx="4401836" cy="43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b="true" sz="2667" u="sng">
                <a:solidFill>
                  <a:srgbClr val="D67012"/>
                </a:solidFill>
                <a:latin typeface="Inter Bold"/>
                <a:ea typeface="Inter Bold"/>
                <a:cs typeface="Inter Bold"/>
                <a:sym typeface="Inter Bold"/>
                <a:hlinkClick r:id="rId4" tooltip="https://www.deped.gov.ph/machine-ready-files/"/>
              </a:rPr>
              <a:t>deped.gov.ph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3232" y="5415377"/>
            <a:ext cx="4669867" cy="93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2847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Additional modeling and </a:t>
            </a:r>
          </a:p>
          <a:p>
            <a:pPr algn="l">
              <a:lnSpc>
                <a:spcPts val="3701"/>
              </a:lnSpc>
            </a:pPr>
            <a:r>
              <a:rPr lang="en-US" sz="2847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methodological references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8718" y="6555147"/>
            <a:ext cx="4401836" cy="871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b="true" sz="2667" u="sng">
                <a:solidFill>
                  <a:srgbClr val="D67012"/>
                </a:solidFill>
                <a:latin typeface="Inter Bold"/>
                <a:ea typeface="Inter Bold"/>
                <a:cs typeface="Inter Bold"/>
                <a:sym typeface="Inter Bold"/>
                <a:hlinkClick r:id="rId5" tooltip="https://youtu.be/E0Hmnixke2g?si=xB_BSUKLzRwpYdpf"/>
              </a:rPr>
              <a:t>All Machine Learning algorithms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DAHXQXlROOM</dc:identifier>
  <dcterms:modified xsi:type="dcterms:W3CDTF">2011-08-01T06:04:30Z</dcterms:modified>
  <cp:revision>1</cp:revision>
  <dc:title>Grade 12 STEM Prediction</dc:title>
</cp:coreProperties>
</file>